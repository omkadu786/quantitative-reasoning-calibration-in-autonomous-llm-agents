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731520"/>
            <a:ext cx="128016" cy="530352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143000"/>
            <a:ext cx="9875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Measuring Quantitative Calibration</a:t>
            </a:r>
            <a:br/>
            <a:r>
              <a:t>in LLM-Guided ML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28803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B9D7DD"/>
                </a:solidFill>
                <a:latin typeface="Aptos"/>
              </a:defRPr>
            </a:pPr>
            <a:r>
              <a:t>Internship Research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42900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D2E1E6"/>
                </a:solidFill>
                <a:latin typeface="Aptos"/>
              </a:defRPr>
            </a:pPr>
            <a:r>
              <a:t>QuaRCAA | Credit Fraud and ECG Arrhythmia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58978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400" b="0">
                <a:solidFill>
                  <a:srgbClr val="B9D7DD"/>
                </a:solidFill>
                <a:latin typeface="Aptos"/>
              </a:defRPr>
            </a:pPr>
            <a:r>
              <a:t>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Table of Contents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77724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41448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41448"/>
            <a:ext cx="73152" cy="77724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35808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57015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557015"/>
            <a:ext cx="73152" cy="77724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21607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51376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72584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72584"/>
            <a:ext cx="73152" cy="77724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37176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66944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Aims and Objectives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1325880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59" y="1325880"/>
            <a:ext cx="73152" cy="7772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59" y="1490472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59" y="1920240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Methodology and Experiments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59" y="2441448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59" y="2441448"/>
            <a:ext cx="73152" cy="7772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59" y="2606040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59" y="3035808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Results and Discussion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3557015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59" y="3557015"/>
            <a:ext cx="73152" cy="7772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59" y="3721607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59" y="4151376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Limitations and 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59" y="4672584"/>
            <a:ext cx="4892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4672584"/>
            <a:ext cx="73152" cy="7772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59" y="4837176"/>
            <a:ext cx="4480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59" y="5266944"/>
            <a:ext cx="4480559" cy="45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3035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23444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0240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Can calibration awareness and feedback make LLM predictions about ML optimization more accurate and less overconfident?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123444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9047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800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1F2937"/>
                </a:solidFill>
                <a:latin typeface="Aptos"/>
              </a:defRPr>
            </a:pPr>
            <a:r>
              <a:t>Three LLMs, two imbalanced classification datasets, and three conditions: baseline optimization (C1), calibration warning (C2), and prediction feedback (C3).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107442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926080"/>
            <a:ext cx="73152" cy="1234440"/>
          </a:xfrm>
          <a:prstGeom prst="rect">
            <a:avLst/>
          </a:prstGeom>
          <a:solidFill>
            <a:srgbClr val="218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906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Main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2044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C2 and C3 generally improve calibration and reduce overconfidence, but these gains do not reliably improve downstream ML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0D1B2A"/>
                </a:solidFill>
                <a:latin typeface="Aptos"/>
              </a:defRPr>
            </a:pPr>
            <a:r>
              <a:t>Core contribution: separating optimization quality from quantitative forecast calibration.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• LLMs are increasingly used as agents that propose ML experiments and hyperparameter changes.</a:t>
            </a:r>
          </a:p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• A useful agent must do two things: choose actions and estimate the consequences of those actions.</a:t>
            </a:r>
          </a:p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• Confidence can be misleading when an agent predicts precise improvements that do not occur.</a:t>
            </a:r>
          </a:p>
          <a:p>
            <a:pPr>
              <a:spcAft>
                <a:spcPts val="500"/>
              </a:spcAft>
              <a:defRPr sz="2200">
                <a:solidFill>
                  <a:srgbClr val="1F2937"/>
                </a:solidFill>
                <a:latin typeface="Aptos"/>
              </a:defRPr>
            </a:pPr>
            <a:r>
              <a:t>• This project evaluates quantitative predictions against real 3-seed pipeline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572000"/>
            <a:ext cx="8503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4572000"/>
            <a:ext cx="73152" cy="114300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4736592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Key distinction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5166360"/>
            <a:ext cx="80924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Optimization performance asks: “Did the proposed parameters improve the pipeline?”</a:t>
            </a:r>
            <a:br/>
            <a:br/>
            <a:r>
              <a:t>Calibration asks: “Did the LLM accurately predict what would happen?”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700" b="1">
                <a:solidFill>
                  <a:srgbClr val="0D1B2A"/>
                </a:solidFill>
                <a:latin typeface="Aptos"/>
              </a:defRPr>
            </a:pPr>
            <a:r>
              <a:t>LLM-guided optimization can produce confident numerical claims without reliable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31720"/>
            <a:ext cx="73152" cy="1874519"/>
          </a:xfrm>
          <a:prstGeom prst="rect">
            <a:avLst/>
          </a:prstGeom>
          <a:solidFill>
            <a:srgbClr val="C7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9631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79"/>
            <a:ext cx="306323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Overconfident forecasts may lead users to trust weak parameter changes or skip necessary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3317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2331720"/>
            <a:ext cx="73152" cy="1874519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49631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Measurement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926079"/>
            <a:ext cx="306323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Most AutoML-agent evaluations focus on final model performance, not whether the agent correctly predicted the outcome.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331720"/>
            <a:ext cx="34747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0144" y="2331720"/>
            <a:ext cx="73152" cy="1874519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49631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926079"/>
            <a:ext cx="3063239" cy="1142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It is unclear whether calibration awareness improves only confidence behavior or also improves optimization decisions.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Aims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241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Measure quantitative calibration in LLM-guided ML optimization.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Compare standard optimization (C1) with calibration awareness (C2).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Test feedback-based self-correction (C3).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Measure downstream task performance separately from calibration quality.</a:t>
            </a:r>
          </a:p>
          <a:p>
            <a:pPr>
              <a:spcAft>
                <a:spcPts val="500"/>
              </a:spcAft>
              <a:defRPr sz="2100">
                <a:solidFill>
                  <a:srgbClr val="1F2937"/>
                </a:solidFill>
                <a:latin typeface="Aptos"/>
              </a:defRPr>
            </a:pPr>
            <a:r>
              <a:t>• Compare behavior across DeepSeek, OpenAI, and Claude on Credit and ECG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0798C"/>
                </a:solidFill>
                <a:latin typeface="Aptos"/>
              </a:defRPr>
            </a:pPr>
            <a:r>
              <a:t>Primary outcome: whether calibration improves without harming optimization.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Methodology and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50876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1752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1F2937"/>
                </a:solidFill>
                <a:latin typeface="Aptos"/>
              </a:defRPr>
            </a:pPr>
            <a:r>
              <a:t>Prompt</a:t>
            </a:r>
            <a:br/>
            <a:r>
              <a:t>LLM receives baseline and previous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73152" cy="150876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4904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920240"/>
            <a:ext cx="301752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1F2937"/>
                </a:solidFill>
                <a:latin typeface="Aptos"/>
              </a:defRPr>
            </a:pPr>
            <a:r>
              <a:t>Propose</a:t>
            </a:r>
            <a:br/>
            <a:r>
              <a:t>LLM changes parameters and predicts metric ranges.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2588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325880"/>
            <a:ext cx="73152" cy="1508760"/>
          </a:xfrm>
          <a:prstGeom prst="rect">
            <a:avLst/>
          </a:prstGeom>
          <a:solidFill>
            <a:srgbClr val="218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49047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20240"/>
            <a:ext cx="301752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1F2937"/>
                </a:solidFill>
                <a:latin typeface="Aptos"/>
              </a:defRPr>
            </a:pPr>
            <a:r>
              <a:t>Execute</a:t>
            </a:r>
            <a:br/>
            <a:r>
              <a:t>Pipeline evaluates proposed parameters across 3 seeds.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429000"/>
            <a:ext cx="73152" cy="1508760"/>
          </a:xfrm>
          <a:prstGeom prst="rect">
            <a:avLst/>
          </a:prstGeom>
          <a:solidFill>
            <a:srgbClr val="C7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301752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1F2937"/>
                </a:solidFill>
                <a:latin typeface="Aptos"/>
              </a:defRPr>
            </a:pPr>
            <a:r>
              <a:t>Compare</a:t>
            </a:r>
            <a:br/>
            <a:r>
              <a:t>Actual means are compared with predictions.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42900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429000"/>
            <a:ext cx="73152" cy="150876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59359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4023360"/>
            <a:ext cx="3017520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1F2937"/>
                </a:solidFill>
                <a:latin typeface="Aptos"/>
              </a:defRPr>
            </a:pPr>
            <a:r>
              <a:t>Diagnose</a:t>
            </a:r>
            <a:br/>
            <a:r>
              <a:t>MACE, RMACE, direction, signal, and overconfidence are recorded.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Aptos"/>
              </a:defRPr>
            </a:pPr>
            <a:r>
              <a:t>3 independent runs × 15 iterations = 45 observations per 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Conditions and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744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51435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LLM receives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Normal history and actual outcomes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Baseline behavior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 + calibration-audit warning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Test awareness effect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 + previous prediction 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Test self-correction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828800" y="3886200"/>
            <a:ext cx="8503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3886200"/>
            <a:ext cx="73152" cy="155448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4050791"/>
            <a:ext cx="8092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4480560"/>
            <a:ext cx="80924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1F2937"/>
                </a:solidFill>
                <a:latin typeface="Aptos"/>
              </a:defRPr>
            </a:pPr>
            <a:r>
              <a:t>MACE/RMACE: calibration error</a:t>
            </a:r>
            <a:br/>
            <a:r>
              <a:t>Overconfidence: missed interval on confident side</a:t>
            </a:r>
            <a:br/>
            <a:r>
              <a:t>Macro F1: downstream ML performance</a:t>
            </a:r>
            <a:br/>
            <a:r>
              <a:t>Signal accuracy: direction only when change exceeds seed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Results: Credit Fraud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75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25"/>
              </a:tblGrid>
              <a:tr h="42519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Cond.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Fraud recall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RMACE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Overconf.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2.1654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0.9249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0.7840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0.0049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1.4264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1.8%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1.3465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0.9241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0.7753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0.0088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3.2331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8.0%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2.1514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0.9212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0.7664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0.0040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2.1847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4.9%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0.7923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1.4238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0.9257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0.7875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0.0047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1.0929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0.9254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0.9987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D1B2A"/>
                </a:solidFill>
                <a:latin typeface="Aptos"/>
              </a:defRPr>
            </a:pPr>
            <a:r>
              <a:t>Credit: C3 gives the best RMACE/overconfidence for Claude and DeepSeek, but task gains are small.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Results: ECG Arrhythmia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75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325"/>
                <a:gridCol w="1626325"/>
                <a:gridCol w="1626325"/>
                <a:gridCol w="1626325"/>
                <a:gridCol w="1626325"/>
                <a:gridCol w="1626325"/>
                <a:gridCol w="1626325"/>
              </a:tblGrid>
              <a:tr h="42519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Cond.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recall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RMACE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Overconf.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0.6270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0.0179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1.7397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0.6142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0.6750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0.0132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1.6109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7.2%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DeepSeek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0.8248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0.5873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0.6525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0.0194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2.6815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24.2%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0.5849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0.6613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2.3514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16.3%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0.5810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0.6447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0.0087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2.2716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8.9%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0.6247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0.7337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1.1586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20.7%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0.6067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0.6959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0.0107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1.1328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12.8%</a:t>
                      </a:r>
                    </a:p>
                  </a:txBody>
                  <a:tcPr>
                    <a:solidFill>
                      <a:srgbClr val="E6EFF2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Claude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0.6970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0.0127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1.1710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F2937"/>
                          </a:solidFill>
                          <a:latin typeface="Aptos"/>
                        </a:defRPr>
                      </a:pPr>
                      <a:r>
                        <a:t>11.6%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0D1B2A"/>
                </a:solidFill>
                <a:latin typeface="Aptos"/>
              </a:defRPr>
            </a:pPr>
            <a:r>
              <a:t>ECG: C3 strongly improves calibration for DeepSeek, but does not recover C1 task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Results and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50876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Finding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063239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C2 and C3 generally reduce overconfidence and calibration error.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73152" cy="1508760"/>
          </a:xfrm>
          <a:prstGeom prst="rect">
            <a:avLst/>
          </a:prstGeom>
          <a:solidFill>
            <a:srgbClr val="C7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3990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Finding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28800"/>
            <a:ext cx="3063239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Better calibration does not reliably produce better ML optimization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23444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234440"/>
            <a:ext cx="73152" cy="150876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399032"/>
            <a:ext cx="30632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Finding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1828800"/>
            <a:ext cx="3063239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1F2937"/>
                </a:solidFill>
                <a:latin typeface="Aptos"/>
              </a:defRPr>
            </a:pPr>
            <a:r>
              <a:t>Model differences depend on the dataset; no LLM dominates every task.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4290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Aptos"/>
              </a:defRPr>
            </a:pPr>
            <a:r>
              <a:t>Core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00798C"/>
                </a:solidFill>
                <a:latin typeface="Aptos"/>
              </a:defRPr>
            </a:pPr>
            <a:r>
              <a:t>“Knowing” the likely outcome and “doing” the best optimization are separable capabilities.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B6974"/>
                </a:solidFill>
                <a:latin typeface="Aptos"/>
              </a:defRPr>
            </a:pPr>
            <a:r>
              <a:t>C3 is implemented as feedback-based self-correction; it is not the deleted parameter-clamping guard.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Only 3 independent runs per condition; the 45 iterations are sequential, not independent replicates.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Gemini is incomplete and excluded from the validated aggregate.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C2 is an awareness intervention; C3 is a feedback intervention, not proof of internal learning.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The signal-detection threshold and directional overconfidence definition are exploratory.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ECG aggregate macro precision/recall were measured as actual outcomes but were not predicted by the original schema.</a:t>
            </a:r>
          </a:p>
          <a:p>
            <a:pPr>
              <a:spcAft>
                <a:spcPts val="500"/>
              </a:spcAft>
              <a:defRPr sz="1800">
                <a:solidFill>
                  <a:srgbClr val="1F2937"/>
                </a:solidFill>
                <a:latin typeface="Aptos"/>
              </a:defRPr>
            </a:pPr>
            <a:r>
              <a:t>• Run-level confidence intervals and effect sizes are still needed for stronger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Status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600200"/>
          </a:xfrm>
          <a:prstGeom prst="rect">
            <a:avLst/>
          </a:prstGeom>
          <a:solidFill>
            <a:srgbClr val="2182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C1, C2, and C3 runs for DeepSeek and OpenAI; C1, C2, and C3 for Claude Credit/ECG; validated artifacts and cost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73152" cy="1600200"/>
          </a:xfrm>
          <a:prstGeom prst="rect">
            <a:avLst/>
          </a:prstGeom>
          <a:solidFill>
            <a:srgbClr val="1F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9903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Next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28800"/>
            <a:ext cx="4800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0">
                <a:solidFill>
                  <a:srgbClr val="1F2937"/>
                </a:solidFill>
                <a:latin typeface="Aptos"/>
              </a:defRPr>
            </a:pPr>
            <a:r>
              <a:t>Use the 3 runs as the independent units; report run-level means, effect sizes, confidence intervals, and sensitivity analyses.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37560"/>
            <a:ext cx="107442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37560"/>
            <a:ext cx="73152" cy="1325880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0215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0D1B2A"/>
                </a:solidFill>
                <a:latin typeface="Aptos"/>
              </a:defRPr>
            </a:pPr>
            <a:r>
              <a:t>Research conclusion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31920"/>
            <a:ext cx="10332720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1F2937"/>
                </a:solidFill>
                <a:latin typeface="Aptos"/>
              </a:defRPr>
            </a:pPr>
            <a:r>
              <a:t>Calibration awareness and feedback improve confidence behavior, but do not reliably improve downstream ML performance.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5B6974"/>
                </a:solidFill>
                <a:latin typeface="Aptos"/>
              </a:defRPr>
            </a:pPr>
            <a:r>
              <a:t>Future: feedback-only vs warning-plus-feedback controls; wider-interval control; improved ECG prediction schema.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00798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600" b="1">
                <a:solidFill>
                  <a:srgbClr val="0D1B2A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Kadavath et al. (2022). Language Models (Mostly) Know What They Know. arXiv:2207.05221.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Barkan et al. (2024). Metacognition and confidence in agentic language-model workflows. NeurIPS Workshop.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Wang et al. (2026). MIRROR: studying the knowing-doing gap and architectural constraints in LLM agents. arXiv:2604.19809.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Yang et al. (2024). OPRO: Optimization by PROmpting. Google DeepMind.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Zheng et al. (2024). AgentHPO: LLM-based hyperparameter optimization.</a:t>
            </a:r>
          </a:p>
          <a:p>
            <a:pPr>
              <a:spcAft>
                <a:spcPts val="5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Moody et al. (2001). MIT-BIH Arrhythmia Database and ECG classification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5B6974"/>
                </a:solidFill>
                <a:latin typeface="Aptos"/>
              </a:defRPr>
            </a:pPr>
            <a:r>
              <a:t>Project repository: Quantitative Reasoning Calibration in Autonomous LLM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1967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B6974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